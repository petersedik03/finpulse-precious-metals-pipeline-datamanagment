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FinPulse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Precious Metals Trading Intelligence Pipeline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0"/>
            <a:ext cx="2743200" cy="27432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— Project Report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Emad Sami Sedik  •  ID: 944958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Milano-Bicocca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2025/2026 —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52728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52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Research Questions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655064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55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5910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Acquisition Methods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9933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459736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3957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 &amp; Quality Assessment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2862072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7980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 &amp; Enrichment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264408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Querying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666744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6027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Results (RQ1, RQ2, RQ3)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40050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&amp; Technical Lessons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4471416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44074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Developments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73152" cy="10515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188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Sentiment-Price Correlation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sentiment of financial news headlines exhibit a measurable correlation with gold price movements within the following 24 hours?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31720"/>
            <a:ext cx="73152" cy="10515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23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4231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in Financial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quality dimensions are most critical when working with near-real-time financial data, and how does integration affect overall quality?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566160"/>
            <a:ext cx="73152" cy="10515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57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Comparison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integrating price data, sentiment scores, and technical indicators produce more reliable trading signals than using technical indicators alone?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 &amp; Acquisition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794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3794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78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1: Financial Prices (API)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Python library (Yahoo Finance API)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assets: Gold, Silver, DXY, S&amp;P 500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window: 2024-03-28 → 2026-03-27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OHLCV granularity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2,014 documents in MongoDB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compound index (asset, date)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3794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3794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78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2: News Headlines (Scraping)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RSS feed scraping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RSS: 100 headlines/run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Investing.com RSS: 10 headlines/run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Reuters: HTTP 401 → excluded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unique docs from 47 publishers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index on (title, source)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Data Summary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7764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965960"/>
                <a:gridCol w="19659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Close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Close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(GC=F)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$2,190.60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$5,318.40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(SI=F)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$115.08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4,967.23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6,978.60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 — Docker Compose orchestration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46304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Scraping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2024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94560" y="1371600"/>
            <a:ext cx="146304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31920" y="1371600"/>
            <a:ext cx="146304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9496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69280" y="1371600"/>
            <a:ext cx="146304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MongoDB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Neo4j Cypher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3232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406640" y="1371600"/>
            <a:ext cx="146304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RQ1, RQ2, RQ3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Stack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3017520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2990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JupyterLab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2990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 environment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401568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3374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7.0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06040" y="33741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store — raw, integrated, metadata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785616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37581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5 Community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06040" y="3758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DB — correlation network, temporal chains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169664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4142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06040" y="4142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 (available for streaming)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4553712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" y="4526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06040" y="4526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orchestration, analysis, visualization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Python Libraries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846320" y="3017520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2990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3346704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319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3675888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3648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4005072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8" name="Text 46"/>
          <p:cNvSpPr/>
          <p:nvPr/>
        </p:nvSpPr>
        <p:spPr>
          <a:xfrm>
            <a:off x="5166360" y="3977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py2neo / neo4j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4334256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0" name="Text 48"/>
          <p:cNvSpPr/>
          <p:nvPr/>
        </p:nvSpPr>
        <p:spPr>
          <a:xfrm>
            <a:off x="5166360" y="4306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+ TextBlob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46320" y="4663440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2" name="Text 50"/>
          <p:cNvSpPr/>
          <p:nvPr/>
        </p:nvSpPr>
        <p:spPr>
          <a:xfrm>
            <a:off x="5166360" y="4636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scipy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Profiling &amp; Quality Assessment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96.4%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Coverage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504/523 expected days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105156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5.57%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974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Outliers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28/503 daily returns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Outliers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volatility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105156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Docs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distinct publishers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2423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Pre-Integration Quality Scores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78638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463040"/>
                <a:gridCol w="1280160"/>
                <a:gridCol w="146304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quality issues identified and logged to MongoDB: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37947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 volume = 0 (expected for indices)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in Gold/Silver/S&amp;P 500 returns (retained — legitimate events)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null publication dates in news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Integration &amp; Enrichment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Enrichment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(primary) + TextBlob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headlines analyzed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44.2% neutral, 28.2% neg, 27.6% pos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Cross-validation: r = 0.29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51560"/>
            <a:ext cx="2651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78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indicators per asset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SMA/EMA (7,21), RSI-14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 (%B)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 (7,21 days)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2651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078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Join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on 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+ Sentiment alignment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has_news flag for coverage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2,014 integrated documents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Error Measurement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8620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00400"/>
                <a:gridCol w="21031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15.2% of days have news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Unmatched 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news on non-trading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granularity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days with multiple news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8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Post-integration nulls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cols, max RSI-14 at 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Neo4j Graph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585 nodes  •  1,090 relationships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20116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Properties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TradingDay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close, rsi_14, sma_21...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sentiment_mean, label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08760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"/>
                <a:gridCol w="15544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HAS_TRADING_DAY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Asset→TradingDay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NEXT_DAY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chain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HAS_SENTIMENT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Day→Sentiment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CORRELATES_WITH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Asset↔Asset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Correlation Network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33756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↔ Silver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926080" y="3337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+0.9233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384048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↔ S&amp;P 500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92608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+0.8778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" y="434340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4343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↔ S&amp;P 500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92608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+0.7877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846320" y="333756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98348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 ↔ Gold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132320" y="3337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-0.7283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846320" y="384048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98348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 ↔ S&amp;P 500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13232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-0.6213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846320" y="434340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983480" y="4343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 ↔ Silver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13232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-0.5810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Quality: Pre vs. Post Integration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463040"/>
                <a:gridCol w="146304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(Prices)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(Integrated)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∆ (Post − Pre)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quality improved +0.88 pp after integration. Completeness marginally decreased due to RSI-14 warm-up period; accuracy improved because enriched fields passed 100% domain constraint 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&amp; Queries — MongoDB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collections  •  7 aggregation pipelines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474720"/>
                <a:gridCol w="3474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Operators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price statistics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$group, $sort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Sentiment-price divergence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$cond, $or, $match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 regime 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$bucket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vs. Silver 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$facet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 overbought/oversold signals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$addFields, $match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distribution + std 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$group, $stdDevPop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Volume-Weighted Avg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$group, $divide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65760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3657600"/>
            <a:ext cx="73152" cy="10972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MQ2 Highlight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sentiment-price divergence days detected where sentiment and price moved in opposite directions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3657600"/>
            <a:ext cx="3794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3657600"/>
            <a:ext cx="73152" cy="10972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MQ5 Highlight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83480" y="3977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RSI extreme days: 126 overbought, 12 oversold — reflecting gold's sustained uptrend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&amp; Queries — Neo4j Cypher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474720"/>
                <a:gridCol w="3474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Overbought + neg 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Consecutive sentiment decline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NEXT_DAY traversal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OHLCV aggregation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reduce() on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network explore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CORRELATES_WITH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High-sentiment 3-day window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Multi-hop traversal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statistics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introspection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recovery after drops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traversal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42900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Cross-Database Performance Comparison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3931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MongoDB: 0.009s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029200" y="3931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8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Neo4j: 0.439s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excels at flat aggregation; Neo4j shines in relationship traversal patterns (temporal chains, multi-hop windows).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 — Sentiment-Price Correlation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(same-day)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-0.1916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(same-day)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-0.1997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(lagged t+1)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Analysis — Contrarian Pattern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5603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560320"/>
            <a:ext cx="25603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+0.28%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54.2% positive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25603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2560320"/>
            <a:ext cx="2560320" cy="54864"/>
          </a:xfrm>
          <a:prstGeom prst="rect">
            <a:avLst/>
          </a:prstGeom>
          <a:solidFill>
            <a:srgbClr val="5A6478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+0.46%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7472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57.1% positive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309360" y="25603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2560320"/>
            <a:ext cx="2560320" cy="5486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0936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-1.10%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30936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40.0% positive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Kruskal-Wallis: H=5.55, p=0.0625 — does not reach significance at α=0.05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4251960"/>
            <a:ext cx="786384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2976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Weak negative correlation (r ≈ -0.19), not statistically significant with N=77. Limited sentiment coverage (15.3%) constrains statistical power.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 — Data Quality Dimensions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Coverage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15.3%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0" y="1097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95.8%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96.7%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0" y="3154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100.0%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5800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6451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coverage is the most critical dimension — a structural limitation of free RSS acquisition, not a data quality defect.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 — Signal Comparison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914400"/>
                <a:gridCol w="2377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 Signals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Cumul. Return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 &amp; 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+98.38%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Technical-Only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(confirm)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(boosted)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Sentiment-Only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292608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2926080"/>
            <a:ext cx="73152" cy="16459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017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+98.38%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 Return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strong secular trends, technical and sentiment filters can harm returns by keeping investors out of the market.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2926080"/>
            <a:ext cx="3794760" cy="1645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92040" y="33832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RSI &lt; 40 condition fired only once in 2 years because gold was in a sustained uptrend. The integrated (confirmation) strategy generated zero signals — too restrictive under these market conditions.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value is conditional on market regime and data availability.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Tools &amp; Methodology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73152" cy="34747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(Anthropic) — Development Partner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was developed with the assistance of Claude AI, as permitted by the course guidelines. Claude was used as a collaborative development partner throughout all phases of the project: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7406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design: Planning the polyglot persistence approach, Docker Compose configuration, and notebook pipeline structure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development: Writing and debugging Python code for data acquisition, sentiment analysis, technical indicators, MongoDB/Neo4j integration, and statistical testing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fixing: Identifying and correcting issues (py2neo type compatibility, sentiment masking with fillna(0), dynamic field detection)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analysis: Interpreting statistical results, validating research question conclusions with real extracted data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Generating the project report (PDF) and presentation (PPTX) using only verified data from the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results, numbers, and conclusions in this report are derived from real data extracted by the pipeline — no invented numbers.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Lessons Learned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73152" cy="685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py2neo Type Compatibility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drivers reject numpy.float64/int64. Explicit casting to native Python float()/int() is required before passing values as node properties.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810512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10512"/>
            <a:ext cx="73152" cy="685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5623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Masking Pitfall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08483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fillna(0) on sentiment data masks NaN values and inflates coverage metrics. Real coverage must filter for rows where actual news exists (has_news == True).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15184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615184"/>
            <a:ext cx="73152" cy="685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60904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Field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88950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Hardcoding asset names or field paths causes silent failures. Runtime detection via distinct() and MATCH queries provides robustness as data schema evolves.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419856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419856"/>
            <a:ext cx="73152" cy="685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65576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%pip Install Placement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69417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installation must be in a separate cell executed before the import cell, or newly installed packages won't be available in the notebook session.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224528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224528"/>
            <a:ext cx="73152" cy="685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70248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Realism Insight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49884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Buy-and-hold significantly outperformed technical signals due to gold's sustained uptrend — a meaningful real-world insight, not just an academic result.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Future Developments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94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3794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33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sentiment-price correlation (r ≈ -0.19), not statistically significant with N=77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coverage (15.3%) is the most critical quality dimension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 (+98%) outperformed all active strategies during the observed uptrend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 proved effective: MongoDB for aggregation, Neo4j for traversal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794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3794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33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news APIs (Bloomberg, Refinitiv) for better sentiment coverage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for domain-specific financial sentiment analysis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streaming for real-time ingestion pipeline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enrichment with geopolitical event data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asset coverage (platinum, palladium)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coverage limited to ~10 months (RSS retention)  •  VADER may miss financial nuances  •  Analysis focused on gold only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27432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Emad Sami Sedik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944958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Milano-Bicocca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FinPulse — Precious Metals Trading Intelligence Pipeline</dc:title>
  <dc:subject>PptxGenJS Presentation</dc:subject>
  <dc:creator>Peter Emad Sami Sedik</dc:creator>
  <cp:lastModifiedBy>Peter Emad Sami Sedik</cp:lastModifiedBy>
  <cp:revision>1</cp:revision>
  <dcterms:created xsi:type="dcterms:W3CDTF">2026-03-29T14:37:06Z</dcterms:created>
  <dcterms:modified xsi:type="dcterms:W3CDTF">2026-03-29T14:37:06Z</dcterms:modified>
</cp:coreProperties>
</file>